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3" r:id="rId10"/>
    <p:sldId id="262" r:id="rId11"/>
    <p:sldId id="264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16"/>
    <p:restoredTop sz="94729"/>
  </p:normalViewPr>
  <p:slideViewPr>
    <p:cSldViewPr snapToGrid="0">
      <p:cViewPr varScale="1">
        <p:scale>
          <a:sx n="150" d="100"/>
          <a:sy n="150" d="100"/>
        </p:scale>
        <p:origin x="1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9F253-9879-934B-9C00-13FF18B69775}" type="datetimeFigureOut">
              <a:rPr lang="en-RU" smtClean="0"/>
              <a:t>20.06.2026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9B131-C3D3-5649-A82C-685EB54B7362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5967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9B131-C3D3-5649-A82C-685EB54B7362}" type="slidenum">
              <a:rPr lang="en-RU" smtClean="0"/>
              <a:t>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97336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6/20/26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D9F991-9B90-8B83-5E4C-9332EE3B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2" t="2368" r="1932" b="2548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E1B1B-5557-84FD-0AF9-0A3B8F6AA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783080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Ритмика и обработка корпуса «Эпоса о Гильгамеше»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BEF499-DC18-F26E-B1FE-652CF6CB318C}"/>
              </a:ext>
            </a:extLst>
          </p:cNvPr>
          <p:cNvSpPr/>
          <p:nvPr/>
        </p:nvSpPr>
        <p:spPr>
          <a:xfrm>
            <a:off x="401782" y="5212079"/>
            <a:ext cx="5181600" cy="10544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выполнила студентка ОП "Ассириология: языки и история древней Месопотамии":</a:t>
            </a:r>
          </a:p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Ивашова Виктория Васильевна</a:t>
            </a:r>
          </a:p>
        </p:txBody>
      </p:sp>
    </p:spTree>
    <p:extLst>
      <p:ext uri="{BB962C8B-B14F-4D97-AF65-F5344CB8AC3E}">
        <p14:creationId xmlns:p14="http://schemas.microsoft.com/office/powerpoint/2010/main" val="115580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A4F3744E-28F2-3631-966B-54C597C43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rcRect b="8367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DD36DE7-D3D2-22D1-201C-0121E306FD23}"/>
              </a:ext>
            </a:extLst>
          </p:cNvPr>
          <p:cNvSpPr/>
          <p:nvPr/>
        </p:nvSpPr>
        <p:spPr>
          <a:xfrm>
            <a:off x="893618" y="1011381"/>
            <a:ext cx="10404764" cy="48352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Аккадская поэзия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одна из древнейших в мире, но её ритмическая структура изучена значительно хуже, чем, например, античная метрика.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Правила аккадского ударения сложны и требуют учёта долготы гласных, структуры слогов и позиции слова в строке.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Корпус «Эпоса о Гильгамеше» включает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одинадцать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таблиц — это тысячи строк стихотворного текста.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Ручной разбор каждой строки занял бы месяцы кропотливой работы и был бы чреват ошибками.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https://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www.ebl.lmu.de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/corpus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94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9EBF4-B1A0-110E-3CB2-BC8C8B512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D63DAF65-C974-957B-E9A5-6F95AD873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rcRect b="8367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7CF4791-181B-5637-74B5-24659CE31882}"/>
              </a:ext>
            </a:extLst>
          </p:cNvPr>
          <p:cNvSpPr/>
          <p:nvPr/>
        </p:nvSpPr>
        <p:spPr>
          <a:xfrm>
            <a:off x="651163" y="415636"/>
            <a:ext cx="10889673" cy="858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12 таблица не обрабатывается?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972C6B1-D035-A529-395A-1C8C8A3923CD}"/>
              </a:ext>
            </a:extLst>
          </p:cNvPr>
          <p:cNvSpPr/>
          <p:nvPr/>
        </p:nvSpPr>
        <p:spPr>
          <a:xfrm>
            <a:off x="856646" y="1828801"/>
            <a:ext cx="10889673" cy="4139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Историческая справка: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Первоначальная версия «Эпоса о Гильгамеше» состояла из 11 таблиц, имеющих кольцевую композицию.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- 12 таблица была добавлена позднее и представляет собой буквальный перевод с шумерского языка, выполненный прозой.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Следствие для нашего анализа: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Таблицы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I-XI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написаны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гимно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-эпическом жанре с соблюдением строгих ритмических правил.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Таблица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XII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прозаический текст, к которому неприменимы правила поэтического ударения.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Поэтому в словаре `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dictionary_tablets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присутствуют только таблицы 1-11.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ограничение программы соответствует реальной структуре памятника.</a:t>
            </a:r>
          </a:p>
        </p:txBody>
      </p:sp>
    </p:spTree>
    <p:extLst>
      <p:ext uri="{BB962C8B-B14F-4D97-AF65-F5344CB8AC3E}">
        <p14:creationId xmlns:p14="http://schemas.microsoft.com/office/powerpoint/2010/main" val="2200381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4CEFA-B57E-C9CB-6AC2-3B7C4CFC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C77898C0-74EB-F7C9-5738-D4AF4A82FD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rcRect b="8367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FF891A-B208-4E9A-B34B-7034F0E5373F}"/>
              </a:ext>
            </a:extLst>
          </p:cNvPr>
          <p:cNvSpPr/>
          <p:nvPr/>
        </p:nvSpPr>
        <p:spPr>
          <a:xfrm>
            <a:off x="651164" y="415636"/>
            <a:ext cx="1551710" cy="803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7053ABC-7EC4-04CA-F26D-E543193CD99B}"/>
              </a:ext>
            </a:extLst>
          </p:cNvPr>
          <p:cNvSpPr/>
          <p:nvPr/>
        </p:nvSpPr>
        <p:spPr>
          <a:xfrm>
            <a:off x="651155" y="1333500"/>
            <a:ext cx="10889673" cy="10079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алгоритма для автоматического анализа слоговой структуры: создание программы для ритмического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филолического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C8F104-93AF-4010-0894-B8AD28D5E5B6}"/>
              </a:ext>
            </a:extLst>
          </p:cNvPr>
          <p:cNvSpPr/>
          <p:nvPr/>
        </p:nvSpPr>
        <p:spPr>
          <a:xfrm>
            <a:off x="651154" y="3891491"/>
            <a:ext cx="10889673" cy="15661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Деление на слоги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Постановка ударений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Выявление ритмических стоп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Интерпретация полученных результатов: построение графиков для таблиц и биграммы </a:t>
            </a:r>
          </a:p>
        </p:txBody>
      </p:sp>
      <p:sp>
        <p:nvSpPr>
          <p:cNvPr id="7" name="Прямоугольник 1">
            <a:extLst>
              <a:ext uri="{FF2B5EF4-FFF2-40B4-BE49-F238E27FC236}">
                <a16:creationId xmlns:a16="http://schemas.microsoft.com/office/drawing/2014/main" id="{7C6FCD97-77E4-EB44-80D7-8DCFC4F9B86B}"/>
              </a:ext>
            </a:extLst>
          </p:cNvPr>
          <p:cNvSpPr/>
          <p:nvPr/>
        </p:nvSpPr>
        <p:spPr>
          <a:xfrm>
            <a:off x="651154" y="2936619"/>
            <a:ext cx="1551710" cy="8035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</p:txBody>
      </p:sp>
    </p:spTree>
    <p:extLst>
      <p:ext uri="{BB962C8B-B14F-4D97-AF65-F5344CB8AC3E}">
        <p14:creationId xmlns:p14="http://schemas.microsoft.com/office/powerpoint/2010/main" val="3172668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A78E-F956-8682-F1B7-C3E87C39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B8D0C3AD-46FF-6E5A-AA96-4F2E79122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rcRect b="8367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D61C52-0818-2481-7135-CE66CBC6AA60}"/>
              </a:ext>
            </a:extLst>
          </p:cNvPr>
          <p:cNvSpPr/>
          <p:nvPr/>
        </p:nvSpPr>
        <p:spPr>
          <a:xfrm>
            <a:off x="1073726" y="1510143"/>
            <a:ext cx="10072255" cy="45014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Типы слогов (</a:t>
            </a:r>
            <a:r>
              <a:rPr lang="e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L/H/U):</a:t>
            </a:r>
          </a:p>
          <a:p>
            <a:pPr algn="just"/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 (Light,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легкий): открытый слог с кратким гласным (например,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ma, 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šu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 (Heavy,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тяжелый):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открытый слог с долгим гласным (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lū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bī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закрытый слог с кратким гласным (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šar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kal).</a:t>
            </a:r>
          </a:p>
          <a:p>
            <a:pPr algn="just"/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 (Ultra-heavy,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сверхтяжелый):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закрытый слог с долгим гласным (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māt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bīt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любой слог со стяженным (так называемым «крышечным») гласным (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dâk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D7ADD31-3C3C-031C-E915-B3713528A818}"/>
              </a:ext>
            </a:extLst>
          </p:cNvPr>
          <p:cNvSpPr/>
          <p:nvPr/>
        </p:nvSpPr>
        <p:spPr>
          <a:xfrm>
            <a:off x="1073727" y="374072"/>
            <a:ext cx="10072255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ритм в аккадской поэзии?</a:t>
            </a:r>
          </a:p>
        </p:txBody>
      </p:sp>
    </p:spTree>
    <p:extLst>
      <p:ext uri="{BB962C8B-B14F-4D97-AF65-F5344CB8AC3E}">
        <p14:creationId xmlns:p14="http://schemas.microsoft.com/office/powerpoint/2010/main" val="969440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85EDA-D9E7-B5A2-0789-169E98B8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9AAAB388-03E5-2F54-B1BB-9D0C6F0C3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rcRect b="8367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4A9380-50DA-664D-3704-74C3BF2E4969}"/>
              </a:ext>
            </a:extLst>
          </p:cNvPr>
          <p:cNvSpPr/>
          <p:nvPr/>
        </p:nvSpPr>
        <p:spPr>
          <a:xfrm>
            <a:off x="651163" y="332509"/>
            <a:ext cx="10889673" cy="6234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УДАРЕНИЯ: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E7BD3D-47D2-595E-E68C-C6D2A86CE11D}"/>
              </a:ext>
            </a:extLst>
          </p:cNvPr>
          <p:cNvSpPr/>
          <p:nvPr/>
        </p:nvSpPr>
        <p:spPr>
          <a:xfrm>
            <a:off x="651163" y="1108363"/>
            <a:ext cx="5347855" cy="6234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Слог с главным ударением обозначаем — [/]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2B6135E-0024-70E9-08CE-06AC67326B23}"/>
              </a:ext>
            </a:extLst>
          </p:cNvPr>
          <p:cNvSpPr/>
          <p:nvPr/>
        </p:nvSpPr>
        <p:spPr>
          <a:xfrm>
            <a:off x="651163" y="2139515"/>
            <a:ext cx="10099964" cy="43107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à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Если 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оследний слог ==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⇒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ударение падает на последний (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слог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iL-kâlU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à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последний слог ==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L/H ⇒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ударение падает на последний не конечный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H/U-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слог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paL-rāH-sumH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à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в слове нет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слогов, нет  неконечных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слогов ⇒ ударение падает на первый слог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ДОПОЛНИТЕЛЬНО: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Односложные слова (предлоги, союзы, частицы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words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сами по себе ударения не несут и примыкают к следующему слову.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Конечные открытые слоги со стяженным гласным (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na-bû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считаются за два слога (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-u),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первый из них несет ударение.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Слог с вторичным ударением — []: Вторичное ударение ставится на каждый второй безударный слог от слога с главным ударением (если это не создает два ударных слога подряд).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Безударный слог — [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x]</a:t>
            </a:r>
          </a:p>
        </p:txBody>
      </p:sp>
    </p:spTree>
    <p:extLst>
      <p:ext uri="{BB962C8B-B14F-4D97-AF65-F5344CB8AC3E}">
        <p14:creationId xmlns:p14="http://schemas.microsoft.com/office/powerpoint/2010/main" val="301063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DC7B-606E-C1A8-9ED2-A0D7C479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BAD2D822-F589-73DC-92A4-63B882B96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rcRect b="8367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1638B9F-0C41-08A7-74CE-337C4B1BA6E3}"/>
              </a:ext>
            </a:extLst>
          </p:cNvPr>
          <p:cNvSpPr/>
          <p:nvPr/>
        </p:nvSpPr>
        <p:spPr>
          <a:xfrm>
            <a:off x="651163" y="580022"/>
            <a:ext cx="10889673" cy="554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РИТМИЧЕСКИЕ СТОПЫ: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A081CFC-70A0-9659-E500-9EDBCCDA198F}"/>
              </a:ext>
            </a:extLst>
          </p:cNvPr>
          <p:cNvSpPr/>
          <p:nvPr/>
        </p:nvSpPr>
        <p:spPr>
          <a:xfrm>
            <a:off x="651162" y="1714227"/>
            <a:ext cx="10889673" cy="43830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Трохей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ударный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безударный слог один за другим == /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\x == [T]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Амфибрахий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безударный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ударный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безударный ==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x\x, x/x == [A]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Дробление на стопы маркируется знаком [']</a:t>
            </a:r>
          </a:p>
          <a:p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mêšunu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ištēniš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iḫīqūma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mê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šu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-nu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iš-tē-niš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ḫī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qū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 </a:t>
            </a:r>
          </a:p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U-L-L H-H-H L-H-H-L </a:t>
            </a:r>
          </a:p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x ' \ x ' / x ' \ x ' / x </a:t>
            </a:r>
          </a:p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TTATT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2135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CF72E-07C5-7ECC-2214-667A21657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E5C0CC64-0DF8-C129-2F4E-2CC8B2A7A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rcRect b="8367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62C7EB2-6298-505B-86A0-A4892C0B8F2B}"/>
              </a:ext>
            </a:extLst>
          </p:cNvPr>
          <p:cNvSpPr/>
          <p:nvPr/>
        </p:nvSpPr>
        <p:spPr>
          <a:xfrm>
            <a:off x="651163" y="415636"/>
            <a:ext cx="10889673" cy="106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Общая схема работы алгоритма</a:t>
            </a:r>
            <a:endParaRPr lang="ru-RU" sz="2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7B8B063-7902-DCF6-DE47-8267A230D7CA}"/>
              </a:ext>
            </a:extLst>
          </p:cNvPr>
          <p:cNvSpPr/>
          <p:nvPr/>
        </p:nvSpPr>
        <p:spPr>
          <a:xfrm>
            <a:off x="4552604" y="1621774"/>
            <a:ext cx="3363488" cy="7121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Чтение из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файлов</a:t>
            </a:r>
          </a:p>
        </p:txBody>
      </p:sp>
      <p:sp>
        <p:nvSpPr>
          <p:cNvPr id="3" name="Прямоугольник 3">
            <a:extLst>
              <a:ext uri="{FF2B5EF4-FFF2-40B4-BE49-F238E27FC236}">
                <a16:creationId xmlns:a16="http://schemas.microsoft.com/office/drawing/2014/main" id="{E7D79440-61FE-9B25-29C5-D1CFDD33F7B8}"/>
              </a:ext>
            </a:extLst>
          </p:cNvPr>
          <p:cNvSpPr/>
          <p:nvPr/>
        </p:nvSpPr>
        <p:spPr>
          <a:xfrm>
            <a:off x="4408912" y="2732116"/>
            <a:ext cx="3650871" cy="7121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Построчная обработка </a:t>
            </a: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</a:t>
            </a:r>
          </a:p>
        </p:txBody>
      </p:sp>
      <p:sp>
        <p:nvSpPr>
          <p:cNvPr id="6" name="Прямоугольник 3">
            <a:extLst>
              <a:ext uri="{FF2B5EF4-FFF2-40B4-BE49-F238E27FC236}">
                <a16:creationId xmlns:a16="http://schemas.microsoft.com/office/drawing/2014/main" id="{D8126FE4-D6F3-1C83-D94D-5D6AE2564900}"/>
              </a:ext>
            </a:extLst>
          </p:cNvPr>
          <p:cNvSpPr/>
          <p:nvPr/>
        </p:nvSpPr>
        <p:spPr>
          <a:xfrm>
            <a:off x="4025734" y="3842458"/>
            <a:ext cx="4621877" cy="7121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txt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файлов каждой таблицы: слоги, ударения, стопы</a:t>
            </a:r>
          </a:p>
        </p:txBody>
      </p:sp>
      <p:sp>
        <p:nvSpPr>
          <p:cNvPr id="7" name="Прямоугольник 3">
            <a:extLst>
              <a:ext uri="{FF2B5EF4-FFF2-40B4-BE49-F238E27FC236}">
                <a16:creationId xmlns:a16="http://schemas.microsoft.com/office/drawing/2014/main" id="{B4DF49CF-207E-9224-EE64-C5727487A830}"/>
              </a:ext>
            </a:extLst>
          </p:cNvPr>
          <p:cNvSpPr/>
          <p:nvPr/>
        </p:nvSpPr>
        <p:spPr>
          <a:xfrm>
            <a:off x="4517768" y="5225140"/>
            <a:ext cx="3087188" cy="7121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307B55-87C8-CD46-9720-ACD85E53CFB7}"/>
              </a:ext>
            </a:extLst>
          </p:cNvPr>
          <p:cNvCxnSpPr/>
          <p:nvPr/>
        </p:nvCxnSpPr>
        <p:spPr>
          <a:xfrm>
            <a:off x="6095999" y="2333898"/>
            <a:ext cx="0" cy="3982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D56C9F-D0A5-0291-33D1-B3B457F0E89B}"/>
              </a:ext>
            </a:extLst>
          </p:cNvPr>
          <p:cNvCxnSpPr/>
          <p:nvPr/>
        </p:nvCxnSpPr>
        <p:spPr>
          <a:xfrm>
            <a:off x="6095999" y="3444240"/>
            <a:ext cx="0" cy="3982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794B94-8636-7054-FD8B-9CAEE293AA77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039391" y="4554582"/>
            <a:ext cx="21971" cy="67055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297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F9188-E5E8-2DF3-1EC7-887A6E1F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8CF475D5-AD2D-463B-BB1C-197090D40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rcRect b="8367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C890E-A7D4-C7A8-1A4C-24591E387230}"/>
              </a:ext>
            </a:extLst>
          </p:cNvPr>
          <p:cNvSpPr/>
          <p:nvPr/>
        </p:nvSpPr>
        <p:spPr>
          <a:xfrm>
            <a:off x="651163" y="415636"/>
            <a:ext cx="10889673" cy="106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endParaRPr lang="ru-RU" sz="2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CEB34C1-5EEE-9CA4-8AE3-EBD962554657}"/>
              </a:ext>
            </a:extLst>
          </p:cNvPr>
          <p:cNvSpPr/>
          <p:nvPr/>
        </p:nvSpPr>
        <p:spPr>
          <a:xfrm>
            <a:off x="678872" y="1773383"/>
            <a:ext cx="5800305" cy="26157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AutoNum type="arabicParenR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Исходная строка: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mêšunu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ištēniš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iḫīqūma</a:t>
            </a:r>
            <a:endParaRPr lang="en-GB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arenR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Токенизация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mê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šu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-nu] [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iš-tē-niš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[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ḫī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qū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-ma]</a:t>
            </a:r>
            <a:endParaRPr lang="ru-RU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arenR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Типы слогов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U-L-L H-H-H L-H-H-L</a:t>
            </a:r>
            <a:endParaRPr lang="ru-RU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arenR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Ударения: 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 x ’  x ’ / x ’  x ’ / x</a:t>
            </a:r>
            <a:endParaRPr lang="ru-RU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arenR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Ритмические стопы: 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TTATT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87BEB4-BB1C-951E-33F5-21B457089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619" y="1641002"/>
            <a:ext cx="5913883" cy="428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59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42011-A966-9841-CA4A-40BF7E75E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C90FBB29-B92A-C9E6-78A8-4DBFBA6C44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rcRect b="8367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F0D2557-22F9-BDA5-8217-7FCED3772F69}"/>
              </a:ext>
            </a:extLst>
          </p:cNvPr>
          <p:cNvSpPr/>
          <p:nvPr/>
        </p:nvSpPr>
        <p:spPr>
          <a:xfrm>
            <a:off x="651163" y="415636"/>
            <a:ext cx="10889673" cy="106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стоп по таблицам</a:t>
            </a:r>
            <a:endParaRPr lang="ru-RU" sz="2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7A5E79-FB32-28E0-5886-8A18BFD0C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90" y="1587500"/>
            <a:ext cx="8193495" cy="39527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2FE5D0-5EF0-D905-9F7B-BAF32EF51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892" y="3238056"/>
            <a:ext cx="3259909" cy="218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66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5D770-F3C2-B22B-C84E-27163E83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47CB0826-CC86-FE72-FA06-899CFB627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rcRect b="8367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7567480-F132-F2BA-F815-338F21266F0A}"/>
              </a:ext>
            </a:extLst>
          </p:cNvPr>
          <p:cNvSpPr/>
          <p:nvPr/>
        </p:nvSpPr>
        <p:spPr>
          <a:xfrm>
            <a:off x="651163" y="415636"/>
            <a:ext cx="10889673" cy="106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Ритмические </a:t>
            </a:r>
            <a:r>
              <a:rPr lang="ru-RU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стопы </a:t>
            </a:r>
            <a:endParaRPr lang="ru-RU" sz="2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1044D3-8228-32B8-E528-6473728E6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48" y="1594111"/>
            <a:ext cx="9040128" cy="47544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071E3C-0681-C872-E498-D22928D2C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0754" y="1594111"/>
            <a:ext cx="2778168" cy="8027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CAEACE-4843-CED1-F676-D9EABF504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029" y="5303929"/>
            <a:ext cx="2757036" cy="100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683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4">
            <a:extLst>
              <a:ext uri="{FF2B5EF4-FFF2-40B4-BE49-F238E27FC236}">
                <a16:creationId xmlns:a16="http://schemas.microsoft.com/office/drawing/2014/main" id="{3D3FAAF3-CF07-053C-9CC5-27E0AEF43A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836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1FB385F-2C56-0F24-1230-B580576B4624}"/>
              </a:ext>
            </a:extLst>
          </p:cNvPr>
          <p:cNvSpPr/>
          <p:nvPr/>
        </p:nvSpPr>
        <p:spPr>
          <a:xfrm>
            <a:off x="651163" y="415636"/>
            <a:ext cx="10889673" cy="702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Возможное дальнейшее развитие проекта: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F16956-0F11-BC09-40AB-6DDAA8A249FB}"/>
              </a:ext>
            </a:extLst>
          </p:cNvPr>
          <p:cNvSpPr/>
          <p:nvPr/>
        </p:nvSpPr>
        <p:spPr>
          <a:xfrm>
            <a:off x="651161" y="1414193"/>
            <a:ext cx="10889673" cy="9477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корпуса текстов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Применение алгоритма к другим аккадским поэтическим текстам (другие эпосы, плачи, гимны)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Создание базы данных ритмических паттернов для разных жанров аккадской литературы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DC8AFD4-BA82-F3F8-ED90-DA902C1CC271}"/>
              </a:ext>
            </a:extLst>
          </p:cNvPr>
          <p:cNvSpPr/>
          <p:nvPr/>
        </p:nvSpPr>
        <p:spPr>
          <a:xfrm>
            <a:off x="651156" y="5253323"/>
            <a:ext cx="10889673" cy="1313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Создание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лемматизированного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корпуса аккадского языка: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Создание морфологическую разметку (части речи, падежи)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Исследовать корреляцию между ритмом и грамматическими категориями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Выявить ритмические маркеры границы предложений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CF3A028-0F6D-3F28-7D9C-63754AECCD82}"/>
              </a:ext>
            </a:extLst>
          </p:cNvPr>
          <p:cNvSpPr/>
          <p:nvPr/>
        </p:nvSpPr>
        <p:spPr>
          <a:xfrm>
            <a:off x="651158" y="3730744"/>
            <a:ext cx="10889673" cy="1313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Сравнительная метрика: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Сопоставление аккадской ритмики с метрическими системами других древних языков (шумерский, угаритский, древнееврейский)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Исследование влияния шумерской поэтической традиции на аккадскую</a:t>
            </a:r>
          </a:p>
        </p:txBody>
      </p:sp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E27F4326-90A5-9201-E182-730EAAF9354E}"/>
              </a:ext>
            </a:extLst>
          </p:cNvPr>
          <p:cNvSpPr/>
          <p:nvPr/>
        </p:nvSpPr>
        <p:spPr>
          <a:xfrm>
            <a:off x="651157" y="2481211"/>
            <a:ext cx="10889673" cy="9477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таблицей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Количественно подтвердить/опровергнуть гипотезу о прозаическом характере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Создание базы данных ритмических паттернов для разных жанров аккадской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3680569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86821-6C4E-EA46-4DD2-EBE65FDC3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414A7-22E1-F227-C405-54D2BACCB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967EAF-E80F-B40C-C718-50E552393B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2" t="2368" r="1932" b="2548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0D2F68B-641E-E130-0030-F82996397187}"/>
              </a:ext>
            </a:extLst>
          </p:cNvPr>
          <p:cNvSpPr/>
          <p:nvPr/>
        </p:nvSpPr>
        <p:spPr>
          <a:xfrm>
            <a:off x="581890" y="964692"/>
            <a:ext cx="4973782" cy="4946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170514470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1832</TotalTime>
  <Words>807</Words>
  <Application>Microsoft Macintosh PowerPoint</Application>
  <PresentationFormat>Widescreen</PresentationFormat>
  <Paragraphs>95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Corbel</vt:lpstr>
      <vt:lpstr>Gill Sans MT</vt:lpstr>
      <vt:lpstr>Times New Roman</vt:lpstr>
      <vt:lpstr>Wingdings</vt:lpstr>
      <vt:lpstr>Посылка</vt:lpstr>
      <vt:lpstr>Ритмика и обработка корпуса «Эпоса о Гильгамеше»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Ритмика и обработка корпуса «Эпоса о Гильгамеше»</dc:title>
  <dc:creator>Microsoft Office User</dc:creator>
  <cp:lastModifiedBy>Виктория Ивашова</cp:lastModifiedBy>
  <cp:revision>21</cp:revision>
  <dcterms:created xsi:type="dcterms:W3CDTF">2026-03-10T09:14:18Z</dcterms:created>
  <dcterms:modified xsi:type="dcterms:W3CDTF">2026-06-20T08:58:17Z</dcterms:modified>
</cp:coreProperties>
</file>